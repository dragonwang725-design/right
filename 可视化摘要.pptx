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98E0"/>
    <a:srgbClr val="7E0000"/>
    <a:srgbClr val="FF0000"/>
    <a:srgbClr val="920000"/>
    <a:srgbClr val="A9A9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31.07.2026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err="1" smtClean="0">
                <a:solidFill>
                  <a:srgbClr val="000000"/>
                </a:solidFill>
              </a:rPr>
              <a:t>今天探讨一个在安全关键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AI领域被长期默认，但从未被真正回答的问题：最终决策主体应该如何形成</a:t>
            </a:r>
            <a:r>
              <a:rPr lang="en-US" sz="1400" b="0" i="0" u="none" strike="noStrike" dirty="0" smtClean="0">
                <a:solidFill>
                  <a:srgbClr val="000000"/>
                </a:solidFill>
              </a:rPr>
              <a:t>？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smtClean="0">
                <a:solidFill>
                  <a:srgbClr val="000000"/>
                </a:solidFill>
              </a:rPr>
              <a:t>目前行业里一个普遍的假设是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，只要模型能力够强，它就能天然获得决策资格。但如果我们严肃地追问下去就会发现：概率生成的AI真的能成为最终决策者吗？如果不能，那决策主体的基础是什么？又如何与物理世界兼容？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这些问题的回避已经导致了严重的后果：安全与责任边界模糊不清、监管无法落地，最终公众会彻底失去信任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err="1" smtClean="0">
                <a:solidFill>
                  <a:srgbClr val="000000"/>
                </a:solidFill>
              </a:rPr>
              <a:t>我们</a:t>
            </a:r>
            <a:r>
              <a:rPr lang="zh-CN" altLang="en-US" sz="1400" b="0" i="0" u="none" strike="noStrike" dirty="0" smtClean="0">
                <a:solidFill>
                  <a:srgbClr val="000000"/>
                </a:solidFill>
              </a:rPr>
              <a:t>已就此课题展开研究</a:t>
            </a:r>
            <a:r>
              <a:rPr lang="en-US" sz="1400" b="0" i="0" u="none" strike="noStrike" dirty="0" smtClean="0">
                <a:solidFill>
                  <a:srgbClr val="000000"/>
                </a:solidFill>
              </a:rPr>
              <a:t>。核心原则很简单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：放弃对“完美模型”的幻想，必须将AI的“建议权”和物理世界的“最终决策权”严格分离，并建立双重约束。</a:t>
            </a:r>
            <a:r>
              <a:rPr lang="en-US" sz="1400" b="0" i="0" u="none" strike="noStrike" dirty="0" smtClean="0">
                <a:solidFill>
                  <a:srgbClr val="000000"/>
                </a:solidFill>
              </a:rPr>
              <a:t>相关的思考与</a:t>
            </a:r>
            <a:r>
              <a:rPr lang="zh-CN" altLang="en-US" sz="1400" b="0" i="0" u="none" strike="noStrike" dirty="0" smtClean="0">
                <a:solidFill>
                  <a:srgbClr val="000000"/>
                </a:solidFill>
              </a:rPr>
              <a:t>预研</a:t>
            </a:r>
            <a:r>
              <a:rPr lang="en-US" sz="1400" b="0" i="0" u="none" strike="noStrike" dirty="0" err="1" smtClean="0">
                <a:solidFill>
                  <a:srgbClr val="000000"/>
                </a:solidFill>
              </a:rPr>
              <a:t>我们已经全部开源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，欢迎各位专家指正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.png"/><Relationship Id="rId3" Type="http://schemas.openxmlformats.org/officeDocument/2006/relationships/image" Target="../media/image1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52334" y="148790"/>
            <a:ext cx="11512733" cy="1207378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 sz="2400"/>
            </a:pPr>
            <a:r>
              <a:rPr lang="en-US" sz="2800" dirty="0" smtClean="0">
                <a:solidFill>
                  <a:schemeClr val="tx2">
                    <a:lumMod val="90000"/>
                  </a:schemeClr>
                </a:solidFill>
                <a:latin typeface="Bell MT" panose="02020503060305020303" pitchFamily="18" charset="0"/>
                <a:ea typeface="+mn-ea"/>
              </a:rPr>
              <a:t> </a:t>
            </a:r>
            <a:r>
              <a:rPr sz="3200" b="1" i="1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汉仪中黑 197" panose="00020600040101010101" pitchFamily="18" charset="-122"/>
                <a:ea typeface="汉仪中黑 197" panose="00020600040101010101" pitchFamily="18" charset="-122"/>
              </a:rPr>
              <a:t>安全关键人工智能系统中</a:t>
            </a:r>
            <a:r>
              <a:rPr sz="3200" b="1" i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汉仪中黑 197" panose="00020600040101010101" pitchFamily="18" charset="-122"/>
                <a:ea typeface="汉仪中黑 197" panose="00020600040101010101" pitchFamily="18" charset="-122"/>
              </a:rPr>
              <a:t>，最终决策主体应依据何种机制形成</a:t>
            </a:r>
            <a:r>
              <a:rPr sz="3200" b="1" i="1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汉仪中黑 197" panose="00020600040101010101" pitchFamily="18" charset="-122"/>
                <a:ea typeface="汉仪中黑 197" panose="00020600040101010101" pitchFamily="18" charset="-122"/>
              </a:rPr>
              <a:t>？</a:t>
            </a:r>
            <a:endParaRPr lang="en-US" sz="3200" b="1" i="1" dirty="0">
              <a:solidFill>
                <a:schemeClr val="bg2">
                  <a:lumMod val="20000"/>
                  <a:lumOff val="80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indent="0" algn="l">
              <a:lnSpc>
                <a:spcPct val="108333"/>
              </a:lnSpc>
              <a:defRPr sz="2400"/>
            </a:pPr>
            <a:r>
              <a:rPr lang="en-US" altLang="zh-CN" dirty="0" smtClean="0">
                <a:solidFill>
                  <a:schemeClr val="tx2">
                    <a:lumMod val="90000"/>
                  </a:schemeClr>
                </a:solidFill>
                <a:latin typeface="Bell MT" panose="02020503060305020303" pitchFamily="18" charset="0"/>
              </a:rPr>
              <a:t>   —</a:t>
            </a:r>
            <a:r>
              <a:rPr sz="1200" i="1" dirty="0" smtClean="0">
                <a:solidFill>
                  <a:schemeClr val="tx2">
                    <a:lumMod val="90000"/>
                  </a:schemeClr>
                </a:solidFill>
              </a:rPr>
              <a:t>How </a:t>
            </a:r>
            <a:r>
              <a:rPr sz="1200" i="1" dirty="0">
                <a:solidFill>
                  <a:schemeClr val="tx2">
                    <a:lumMod val="90000"/>
                  </a:schemeClr>
                </a:solidFill>
              </a:rPr>
              <a:t>Should the Ultimate Decision Subject Be Formed in Safety-Critical AI Systems?</a:t>
            </a:r>
            <a:endParaRPr lang="en-US" sz="1200" i="1" dirty="0">
              <a:solidFill>
                <a:schemeClr val="tx2">
                  <a:lumMod val="90000"/>
                </a:schemeClr>
              </a:solidFill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86163" y="1967887"/>
            <a:ext cx="5663111" cy="31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 sz="2000"/>
            </a:pPr>
            <a:r>
              <a:rPr sz="12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核心问题</a:t>
            </a:r>
            <a:r>
              <a:rPr dirty="0">
                <a:solidFill>
                  <a:schemeClr val="tx2"/>
                </a:solidFill>
              </a:rPr>
              <a:t/>
            </a:r>
            <a:br>
              <a:rPr dirty="0">
                <a:solidFill>
                  <a:schemeClr val="tx2"/>
                </a:solidFill>
              </a:rPr>
            </a:br>
            <a:r>
              <a:rPr dirty="0">
                <a:solidFill>
                  <a:schemeClr val="tx2"/>
                </a:solidFill>
              </a:rPr>
              <a:t>• </a:t>
            </a:r>
            <a:r>
              <a:rPr lang="zh-CN" altLang="en-US" sz="1200" dirty="0" smtClean="0">
                <a:solidFill>
                  <a:schemeClr val="tx2"/>
                </a:solidFill>
              </a:rPr>
              <a:t>概率</a:t>
            </a:r>
            <a:r>
              <a:rPr lang="zh-CN" altLang="en-US" sz="1200" dirty="0">
                <a:solidFill>
                  <a:schemeClr val="tx2"/>
                </a:solidFill>
              </a:rPr>
              <a:t>生成系统能否天然获得最终决策主体资格？若不能，其形成依据是什么</a:t>
            </a:r>
            <a:r>
              <a:rPr lang="zh-CN" altLang="en-US" sz="1200" dirty="0" smtClean="0">
                <a:solidFill>
                  <a:schemeClr val="tx2"/>
                </a:solidFill>
              </a:rPr>
              <a:t>？</a:t>
            </a:r>
            <a:r>
              <a:rPr dirty="0">
                <a:solidFill>
                  <a:schemeClr val="tx2"/>
                </a:solidFill>
              </a:rPr>
              <a:t/>
            </a:r>
            <a:br>
              <a:rPr dirty="0">
                <a:solidFill>
                  <a:schemeClr val="tx2"/>
                </a:solidFill>
              </a:rPr>
            </a:b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58651" y="2407825"/>
            <a:ext cx="5439956" cy="455659"/>
          </a:xfrm>
          <a:prstGeom prst="roundRect">
            <a:avLst>
              <a:gd name="adj" fmla="val 0"/>
            </a:avLst>
          </a:prstGeom>
          <a:solidFill>
            <a:srgbClr val="1E40A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58651" y="2445770"/>
            <a:ext cx="5256349" cy="4177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smtClean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  01</a:t>
            </a:r>
            <a:r>
              <a:rPr lang="en-US" sz="15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｜核心追问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494575" y="305192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 dirty="0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01. </a:t>
            </a:r>
            <a:r>
              <a:rPr lang="en-US" sz="1300" b="1" i="0" u="none" strike="noStrike" dirty="0" err="1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资格之问：</a:t>
            </a:r>
            <a:r>
              <a:rPr lang="en-US" sz="1300" b="0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以概率生成为核心的大模型，是否在逻辑上具备成为物理世界“最终决策主体”的先天资格</a:t>
            </a:r>
            <a:r>
              <a:rPr 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494575" y="3693368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 dirty="0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02. </a:t>
            </a:r>
            <a:r>
              <a:rPr lang="en-US" sz="1300" b="1" i="0" u="none" strike="noStrike" dirty="0" err="1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基础之问：</a:t>
            </a:r>
            <a:r>
              <a:rPr lang="en-US" sz="1300" b="0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若AI无法天然获得该资格，则“决策主体”</a:t>
            </a:r>
            <a:r>
              <a:rPr lang="en-US" sz="1300" b="0" i="0" u="none" strike="noStrike" dirty="0" err="1" smtClean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的认定应当建立在何种</a:t>
            </a:r>
            <a:r>
              <a:rPr lang="zh-CN" altLang="en-US" sz="1300" b="0" i="0" u="none" strike="noStrike" dirty="0" smtClean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理论、工程与安全</a:t>
            </a:r>
            <a:r>
              <a:rPr lang="en-US" sz="1300" b="0" i="0" u="none" strike="noStrike" dirty="0" err="1" smtClean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的共同基础之上</a:t>
            </a:r>
            <a:r>
              <a:rPr 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479335" y="434637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 dirty="0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03. </a:t>
            </a:r>
            <a:r>
              <a:rPr lang="en-US" sz="1300" b="1" i="0" u="none" strike="noStrike" dirty="0" err="1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兼容之问：</a:t>
            </a:r>
            <a:r>
              <a:rPr lang="en-US" sz="1300" b="0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当确立独立决策主体后，其决策逻辑如何与物理系统的高确定性、高可靠性安全要求形成无矛盾的闭环</a:t>
            </a:r>
            <a:r>
              <a:rPr 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458651" y="5084925"/>
            <a:ext cx="5334000" cy="6057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b="1" i="0" u="none" strike="noStrike" dirty="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▍ </a:t>
            </a:r>
            <a:r>
              <a:rPr lang="en-US" b="1" i="0" u="none" strike="noStrike" dirty="0" err="1" smtClean="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理论探索</a:t>
            </a:r>
            <a:r>
              <a:rPr lang="zh-CN" altLang="en-US" b="1" dirty="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方向</a:t>
            </a:r>
            <a:r>
              <a:rPr lang="en-US" b="1" i="0" u="none" strike="noStrike" dirty="0" smtClean="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2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-apple-system"/>
              </a:rPr>
              <a:t>主体形成理论 </a:t>
            </a:r>
            <a:r>
              <a:rPr lang="en-US" altLang="zh-CN" sz="12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-apple-system"/>
              </a:rPr>
              <a:t>+ </a:t>
            </a:r>
            <a:r>
              <a:rPr lang="zh-CN" altLang="en-US" sz="12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-apple-system"/>
              </a:rPr>
              <a:t>概率</a:t>
            </a:r>
            <a:r>
              <a:rPr lang="en-US" altLang="zh-CN" sz="12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-apple-system"/>
              </a:rPr>
              <a:t>-</a:t>
            </a:r>
            <a:r>
              <a:rPr lang="zh-CN" altLang="en-US" sz="12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-apple-system"/>
              </a:rPr>
              <a:t>确定性桥接</a:t>
            </a:r>
            <a:r>
              <a:rPr lang="zh-CN" altLang="en-US" sz="12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-apple-system"/>
              </a:rPr>
              <a:t>机制</a:t>
            </a:r>
            <a:endParaRPr lang="en-US" altLang="zh-CN" sz="1200" i="1" dirty="0" smtClean="0">
              <a:solidFill>
                <a:schemeClr val="accent2">
                  <a:lumMod val="60000"/>
                  <a:lumOff val="40000"/>
                </a:schemeClr>
              </a:solidFill>
              <a:latin typeface="-apple-system"/>
            </a:endParaRPr>
          </a:p>
          <a:p>
            <a:pPr>
              <a:lnSpc>
                <a:spcPct val="116666"/>
              </a:lnSpc>
              <a:defRPr/>
            </a:pPr>
            <a:endParaRPr lang="en-US" sz="1050" dirty="0">
              <a:solidFill>
                <a:schemeClr val="accent1">
                  <a:lumMod val="60000"/>
                  <a:lumOff val="40000"/>
                </a:schemeClr>
              </a:solidFill>
              <a:latin typeface="-apple-system"/>
            </a:endParaRPr>
          </a:p>
          <a:p>
            <a:pPr>
              <a:lnSpc>
                <a:spcPct val="116666"/>
              </a:lnSpc>
              <a:defRPr/>
            </a:pPr>
            <a:endParaRPr lang="en-US" sz="1100" dirty="0">
              <a:solidFill>
                <a:schemeClr val="accent3">
                  <a:lumMod val="60000"/>
                  <a:lumOff val="40000"/>
                </a:schemeClr>
              </a:solidFill>
              <a:latin typeface="-apple-system"/>
            </a:endParaRPr>
          </a:p>
        </p:txBody>
      </p:sp>
      <p:cxnSp>
        <p:nvCxnSpPr>
          <p:cNvPr id="12" name="Connector 12"/>
          <p:cNvCxnSpPr/>
          <p:nvPr/>
        </p:nvCxnSpPr>
        <p:spPr>
          <a:xfrm rot="5388540">
            <a:off x="4191000" y="4184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320609" y="2405553"/>
            <a:ext cx="5334000" cy="434842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37032" y="2464523"/>
            <a:ext cx="2516469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02｜</a:t>
            </a:r>
            <a:r>
              <a:rPr lang="en-US" sz="1500" b="1" i="0" u="none" strike="noStrike" dirty="0" smtClean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回避问题的后果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6680792" y="3123654"/>
            <a:ext cx="1656080" cy="59362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b="1" i="0" u="none" strike="noStrike" dirty="0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▌ </a:t>
            </a:r>
            <a:r>
              <a:rPr lang="zh-CN" altLang="en-US" b="1" i="0" u="none" strike="noStrike" dirty="0" smtClean="0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主体</a:t>
            </a:r>
            <a:r>
              <a:rPr lang="en-US" b="1" i="0" u="none" strike="noStrike" dirty="0" err="1" smtClean="0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边界模糊</a:t>
            </a:r>
            <a:endParaRPr lang="en-US" dirty="0"/>
          </a:p>
        </p:txBody>
      </p:sp>
      <p:sp>
        <p:nvSpPr>
          <p:cNvPr id="16" name="AutoShape 16"/>
          <p:cNvSpPr/>
          <p:nvPr/>
        </p:nvSpPr>
        <p:spPr>
          <a:xfrm>
            <a:off x="8438370" y="3161345"/>
            <a:ext cx="1803364" cy="518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b="1" i="0" u="none" strike="noStrike" dirty="0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▌ </a:t>
            </a:r>
            <a:r>
              <a:rPr lang="en-US" b="1" i="0" u="none" strike="noStrike" dirty="0" err="1" smtClean="0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责任链条断裂</a:t>
            </a:r>
            <a:endParaRPr lang="en-US" dirty="0"/>
          </a:p>
        </p:txBody>
      </p:sp>
      <p:sp>
        <p:nvSpPr>
          <p:cNvPr id="17" name="AutoShape 17"/>
          <p:cNvSpPr/>
          <p:nvPr/>
        </p:nvSpPr>
        <p:spPr>
          <a:xfrm>
            <a:off x="6682607" y="3513226"/>
            <a:ext cx="1654265" cy="51267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b="1" i="0" u="none" strike="noStrike" dirty="0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▌ </a:t>
            </a:r>
            <a:r>
              <a:rPr lang="en-US" b="1" i="0" u="none" strike="noStrike" dirty="0" err="1" smtClean="0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监管</a:t>
            </a:r>
            <a:r>
              <a:rPr lang="zh-CN" altLang="en-US" b="1" i="0" u="none" strike="noStrike" dirty="0" smtClean="0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对象缺失</a:t>
            </a:r>
            <a:endParaRPr lang="en-US" dirty="0"/>
          </a:p>
        </p:txBody>
      </p:sp>
      <p:sp>
        <p:nvSpPr>
          <p:cNvPr id="18" name="AutoShape 18"/>
          <p:cNvSpPr/>
          <p:nvPr/>
        </p:nvSpPr>
        <p:spPr>
          <a:xfrm>
            <a:off x="8436481" y="3535989"/>
            <a:ext cx="2090256" cy="43735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b="1" i="0" u="none" strike="noStrike" dirty="0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▌ </a:t>
            </a:r>
            <a:r>
              <a:rPr lang="en-US" b="1" i="0" u="none" strike="noStrike" dirty="0" err="1" smtClean="0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公众信任坍塌</a:t>
            </a:r>
            <a:endParaRPr lang="en-US" dirty="0"/>
          </a:p>
        </p:txBody>
      </p:sp>
      <p:sp>
        <p:nvSpPr>
          <p:cNvPr id="19" name="AutoShape 19"/>
          <p:cNvSpPr/>
          <p:nvPr/>
        </p:nvSpPr>
        <p:spPr>
          <a:xfrm>
            <a:off x="6265136" y="3978858"/>
            <a:ext cx="5323478" cy="454901"/>
          </a:xfrm>
          <a:prstGeom prst="roundRect">
            <a:avLst>
              <a:gd name="adj" fmla="val 0"/>
            </a:avLst>
          </a:prstGeom>
          <a:solidFill>
            <a:srgbClr val="EAB30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437032" y="4014215"/>
            <a:ext cx="4713514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0A192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sz="1400" b="1" i="0" u="none" strike="noStrike" dirty="0" smtClean="0">
                <a:solidFill>
                  <a:srgbClr val="0A192F"/>
                </a:solidFill>
                <a:latin typeface="Noto Sans SC"/>
                <a:ea typeface="Noto Sans SC"/>
                <a:cs typeface="Noto Sans SC"/>
                <a:sym typeface="Noto Sans SC"/>
              </a:rPr>
              <a:t>｜</a:t>
            </a:r>
            <a:r>
              <a:rPr lang="zh-CN" altLang="en-US" sz="1400" b="1" i="0" u="none" strike="noStrike" dirty="0" smtClean="0">
                <a:solidFill>
                  <a:srgbClr val="0A192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核心矛盾与</a:t>
            </a:r>
            <a:r>
              <a:rPr lang="en-US" sz="1400" b="1" i="0" u="none" strike="noStrike" dirty="0" err="1" smtClean="0">
                <a:solidFill>
                  <a:srgbClr val="0A192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关键立场</a:t>
            </a: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>
            <a:off x="6367416" y="4771432"/>
            <a:ext cx="5408696" cy="4071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altLang="zh-CN" sz="1200" b="1" dirty="0">
                <a:solidFill>
                  <a:srgbClr val="FACC15"/>
                </a:solidFill>
                <a:latin typeface="Noto Sans SC"/>
                <a:ea typeface="Noto Sans SC"/>
                <a:cs typeface="Noto Sans SC"/>
                <a:sym typeface="Noto Sans SC"/>
              </a:rPr>
              <a:t>✦ </a:t>
            </a:r>
            <a:r>
              <a:rPr lang="en-US" altLang="zh-CN" sz="1200" b="1" dirty="0" err="1" smtClean="0">
                <a:solidFill>
                  <a:srgbClr val="FACC1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</a:t>
            </a:r>
            <a:r>
              <a:rPr lang="zh-CN" altLang="en-US" sz="1200" b="1" dirty="0" smtClean="0">
                <a:solidFill>
                  <a:srgbClr val="FACC15"/>
                </a:solidFill>
                <a:latin typeface="Noto Sans SC"/>
                <a:ea typeface="Noto Sans SC"/>
                <a:cs typeface="Noto Sans SC"/>
                <a:sym typeface="Noto Sans SC"/>
              </a:rPr>
              <a:t>矛盾</a:t>
            </a:r>
            <a:r>
              <a:rPr lang="en-US" altLang="zh-CN" sz="1200" b="1" dirty="0" smtClean="0">
                <a:solidFill>
                  <a:srgbClr val="FACC15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200" dirty="0" smtClean="0">
                <a:solidFill>
                  <a:schemeClr val="bg1">
                    <a:lumMod val="8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大语言模型概率输出的不确定性</a:t>
            </a:r>
            <a:r>
              <a:rPr lang="en-US" altLang="zh-CN" sz="1200" dirty="0" smtClean="0">
                <a:solidFill>
                  <a:schemeClr val="bg1">
                    <a:lumMod val="8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vs</a:t>
            </a:r>
            <a:r>
              <a:rPr lang="zh-CN" altLang="en-US" sz="1200" dirty="0" smtClean="0">
                <a:solidFill>
                  <a:schemeClr val="bg1">
                    <a:lumMod val="8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高风险安全场景中严格的确定性</a:t>
            </a:r>
            <a:endParaRPr lang="en-US" altLang="zh-CN" sz="1200" dirty="0" smtClean="0">
              <a:solidFill>
                <a:schemeClr val="bg1">
                  <a:lumMod val="8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08333"/>
              </a:lnSpc>
              <a:defRPr/>
            </a:pPr>
            <a:endParaRPr lang="en-US" altLang="zh-CN" sz="1200" dirty="0" smtClean="0">
              <a:solidFill>
                <a:schemeClr val="bg1">
                  <a:lumMod val="8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08333"/>
              </a:lnSpc>
              <a:defRPr/>
            </a:pPr>
            <a:r>
              <a:rPr lang="en-US" sz="1200" b="1" i="0" u="none" strike="noStrike" dirty="0" smtClean="0">
                <a:solidFill>
                  <a:srgbClr val="FACC15"/>
                </a:solidFill>
                <a:latin typeface="Noto Sans SC"/>
                <a:ea typeface="Noto Sans SC"/>
                <a:cs typeface="Noto Sans SC"/>
                <a:sym typeface="Noto Sans SC"/>
              </a:rPr>
              <a:t>✦ </a:t>
            </a:r>
            <a:r>
              <a:rPr lang="en-US" sz="1200" b="1" i="0" u="none" strike="noStrike" dirty="0" err="1" smtClean="0">
                <a:solidFill>
                  <a:srgbClr val="FACC1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</a:t>
            </a:r>
            <a:r>
              <a:rPr lang="zh-CN" altLang="en-US" sz="1200" b="1" i="0" u="none" strike="noStrike" dirty="0" smtClean="0">
                <a:solidFill>
                  <a:srgbClr val="FACC15"/>
                </a:solidFill>
                <a:latin typeface="Noto Sans SC"/>
                <a:ea typeface="Noto Sans SC"/>
                <a:cs typeface="Noto Sans SC"/>
                <a:sym typeface="Noto Sans SC"/>
              </a:rPr>
              <a:t>立场</a:t>
            </a:r>
            <a:r>
              <a:rPr lang="en-US" sz="1200" b="1" i="0" u="none" strike="noStrike" dirty="0" smtClean="0">
                <a:solidFill>
                  <a:srgbClr val="FACC15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200" dirty="0" smtClean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高</a:t>
            </a:r>
            <a:r>
              <a:rPr lang="zh-CN" altLang="en-US" sz="1200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可靠</a:t>
            </a:r>
            <a:r>
              <a:rPr lang="en-US" altLang="zh-CN" sz="1200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</a:t>
            </a:r>
            <a:r>
              <a:rPr lang="zh-CN" altLang="en-US" sz="1200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不应以</a:t>
            </a:r>
            <a:r>
              <a:rPr lang="en-US" altLang="zh-CN" sz="1200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'</a:t>
            </a:r>
            <a:r>
              <a:rPr lang="zh-CN" altLang="en-US" sz="1200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模型完美</a:t>
            </a:r>
            <a:r>
              <a:rPr lang="en-US" altLang="zh-CN" sz="1200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'</a:t>
            </a:r>
            <a:r>
              <a:rPr lang="zh-CN" altLang="en-US" sz="1200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作为安全前提，需在接受结构性不完美的条件下建立主体形成机制</a:t>
            </a:r>
            <a:r>
              <a:rPr lang="zh-CN" altLang="en-US" sz="1200" dirty="0" smtClean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200" b="0" i="0" u="none" strike="noStrike" dirty="0" smtClean="0">
              <a:solidFill>
                <a:srgbClr val="FFFFFF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532675" y="5849361"/>
            <a:ext cx="11176000" cy="1033111"/>
          </a:xfrm>
          <a:prstGeom prst="roundRect">
            <a:avLst>
              <a:gd name="adj" fmla="val 0"/>
            </a:avLst>
          </a:prstGeom>
          <a:solidFill>
            <a:srgbClr val="FF0000">
              <a:alpha val="4706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05395" y="6284457"/>
            <a:ext cx="11003280" cy="49886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800" b="1" i="1" u="none" strike="noStrike" dirty="0" err="1" smtClean="0">
                <a:solidFill>
                  <a:schemeClr val="accent1">
                    <a:lumMod val="40000"/>
                    <a:lumOff val="6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深度反思</a:t>
            </a:r>
            <a:r>
              <a:rPr lang="en-US" sz="1800" b="1" i="1" u="none" strike="noStrike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800" b="1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将模型默认为最终决策主体，其安全逻辑隐含</a:t>
            </a:r>
            <a:r>
              <a:rPr lang="en-US" altLang="zh-CN" sz="1800" b="1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'</a:t>
            </a:r>
            <a:r>
              <a:rPr lang="zh-CN" altLang="en-US" sz="1800" b="1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能力达标即授权</a:t>
            </a:r>
            <a:r>
              <a:rPr lang="en-US" altLang="zh-CN" sz="1800" b="1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'</a:t>
            </a:r>
            <a:r>
              <a:rPr lang="zh-CN" altLang="en-US" sz="1800" b="1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的假设，未</a:t>
            </a:r>
            <a:r>
              <a:rPr lang="zh-CN" altLang="en-US" sz="1800" b="1" i="1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回答资格</a:t>
            </a:r>
            <a:r>
              <a:rPr lang="zh-CN" altLang="en-US" sz="1800" b="1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从何而</a:t>
            </a:r>
            <a:r>
              <a:rPr lang="zh-CN" altLang="en-US" sz="1800" b="1" i="1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来</a:t>
            </a:r>
            <a:r>
              <a:rPr lang="en-US" sz="1800" b="1" i="1" u="none" strike="noStrike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800" b="1" i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7" name="AutoShape 12"/>
          <p:cNvSpPr/>
          <p:nvPr/>
        </p:nvSpPr>
        <p:spPr>
          <a:xfrm>
            <a:off x="6727265" y="1796783"/>
            <a:ext cx="4828540" cy="30388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endParaRPr lang="en-US" altLang="zh-CN" sz="1200" dirty="0" smtClean="0">
              <a:solidFill>
                <a:schemeClr val="accent3">
                  <a:lumMod val="60000"/>
                  <a:lumOff val="4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Noto Sans SC"/>
              <a:sym typeface="Noto Sans SC"/>
            </a:endParaRPr>
          </a:p>
          <a:p>
            <a:pPr>
              <a:lnSpc>
                <a:spcPct val="108333"/>
              </a:lnSpc>
              <a:defRPr/>
            </a:pPr>
            <a:r>
              <a: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现有研究聚焦</a:t>
            </a:r>
            <a:r>
              <a:rPr lang="zh-CN" altLang="en-US" sz="12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： </a:t>
            </a:r>
            <a:r>
              <a:rPr lang="en-US" altLang="zh-CN" sz="1200" dirty="0">
                <a:solidFill>
                  <a:schemeClr val="accent3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·</a:t>
            </a:r>
            <a:r>
              <a:rPr lang="zh-CN" altLang="en-US" sz="12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模型</a:t>
            </a:r>
            <a:r>
              <a:rPr lang="zh-CN" altLang="en-US" sz="1200" dirty="0">
                <a:solidFill>
                  <a:schemeClr val="accent3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能力 </a:t>
            </a:r>
            <a:r>
              <a:rPr lang="en-US" altLang="zh-CN" sz="1200" dirty="0">
                <a:solidFill>
                  <a:schemeClr val="accent3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· </a:t>
            </a:r>
            <a:r>
              <a:rPr lang="zh-CN" altLang="en-US" sz="1200" dirty="0">
                <a:solidFill>
                  <a:schemeClr val="accent3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功能安全 </a:t>
            </a:r>
            <a:r>
              <a:rPr lang="en-US" altLang="zh-CN" sz="1200" dirty="0">
                <a:solidFill>
                  <a:schemeClr val="accent3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· </a:t>
            </a:r>
            <a:r>
              <a:rPr lang="zh-CN" altLang="en-US" sz="1200" dirty="0">
                <a:solidFill>
                  <a:schemeClr val="accent3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人机协同 </a:t>
            </a:r>
            <a:r>
              <a:rPr lang="en-US" altLang="zh-CN" sz="1200" dirty="0">
                <a:solidFill>
                  <a:schemeClr val="accent3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· </a:t>
            </a:r>
            <a:r>
              <a:rPr lang="zh-CN" altLang="en-US" sz="1200" dirty="0">
                <a:solidFill>
                  <a:schemeClr val="accent3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形式化</a:t>
            </a:r>
            <a:r>
              <a:rPr lang="zh-CN" altLang="en-US" sz="12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验证</a:t>
            </a:r>
            <a:endParaRPr lang="en-US" altLang="zh-CN" sz="1200" dirty="0" smtClean="0">
              <a:solidFill>
                <a:schemeClr val="accent3">
                  <a:lumMod val="60000"/>
                  <a:lumOff val="4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Noto Sans SC"/>
              <a:sym typeface="Noto Sans SC"/>
            </a:endParaRPr>
          </a:p>
          <a:p>
            <a:pPr>
              <a:lnSpc>
                <a:spcPct val="108333"/>
              </a:lnSpc>
              <a:defRPr/>
            </a:pPr>
            <a:endParaRPr lang="en-US" altLang="zh-CN" sz="500" dirty="0" smtClean="0">
              <a:solidFill>
                <a:schemeClr val="accent1">
                  <a:lumMod val="60000"/>
                  <a:lumOff val="4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Noto Sans SC"/>
              <a:sym typeface="Noto Sans SC"/>
            </a:endParaRPr>
          </a:p>
          <a:p>
            <a:pPr>
              <a:lnSpc>
                <a:spcPct val="108333"/>
              </a:lnSpc>
              <a:defRPr/>
            </a:pPr>
            <a:r>
              <a:rPr lang="zh-CN" altLang="en-US" sz="12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尚未</a:t>
            </a:r>
            <a:r>
              <a: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触及</a:t>
            </a:r>
            <a:r>
              <a:rPr lang="zh-CN" altLang="en-US" sz="12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： </a:t>
            </a:r>
            <a:r>
              <a:rPr lang="en-US" altLang="zh-CN" sz="1200" dirty="0">
                <a:solidFill>
                  <a:schemeClr val="accent3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·</a:t>
            </a:r>
            <a:r>
              <a:rPr lang="zh-CN" altLang="en-US" sz="12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决策</a:t>
            </a:r>
            <a:r>
              <a:rPr lang="zh-CN" altLang="en-US" sz="1200" dirty="0">
                <a:solidFill>
                  <a:schemeClr val="accent3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主体形成机制</a:t>
            </a:r>
            <a:endParaRPr lang="en-US" sz="1200" dirty="0">
              <a:solidFill>
                <a:schemeClr val="accent3">
                  <a:lumMod val="60000"/>
                  <a:lumOff val="4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AutoShape 60"/>
          <p:cNvSpPr/>
          <p:nvPr/>
        </p:nvSpPr>
        <p:spPr>
          <a:xfrm>
            <a:off x="7651750" y="6247426"/>
            <a:ext cx="4273548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21" y="1807852"/>
            <a:ext cx="192815" cy="188624"/>
          </a:xfrm>
          <a:prstGeom prst="rect">
            <a:avLst/>
          </a:prstGeom>
        </p:spPr>
      </p:pic>
      <p:pic>
        <p:nvPicPr>
          <p:cNvPr id="29" name="Picture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37032" y="1802803"/>
            <a:ext cx="221706" cy="221706"/>
          </a:xfrm>
          <a:prstGeom prst="rect">
            <a:avLst/>
          </a:prstGeom>
        </p:spPr>
      </p:pic>
      <p:sp>
        <p:nvSpPr>
          <p:cNvPr id="31" name="AutoShape 30"/>
          <p:cNvSpPr/>
          <p:nvPr/>
        </p:nvSpPr>
        <p:spPr>
          <a:xfrm>
            <a:off x="948973" y="6014124"/>
            <a:ext cx="6122387" cy="3086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i="1" u="none" strike="noStrike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结构性冲突：生成式AI的“概率自由”与物理世界的“确定性枷锁”</a:t>
            </a:r>
            <a:r>
              <a:rPr lang="en-US" sz="1200" i="1" u="none" strike="noStrike" dirty="0" err="1" smtClean="0">
                <a:solidFill>
                  <a:schemeClr val="accent5">
                    <a:lumMod val="60000"/>
                    <a:lumOff val="4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之间</a:t>
            </a:r>
            <a:r>
              <a:rPr lang="zh-CN" altLang="en-US" sz="1200" i="1" u="none" strike="noStrike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的根本性张力</a:t>
            </a:r>
            <a:endParaRPr lang="en-US" sz="1200" i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786" y="6114474"/>
            <a:ext cx="135187" cy="138484"/>
          </a:xfrm>
          <a:prstGeom prst="rect">
            <a:avLst/>
          </a:prstGeom>
        </p:spPr>
      </p:pic>
      <p:sp>
        <p:nvSpPr>
          <p:cNvPr id="30" name="AutoShape 11"/>
          <p:cNvSpPr/>
          <p:nvPr/>
        </p:nvSpPr>
        <p:spPr>
          <a:xfrm>
            <a:off x="458650" y="5675717"/>
            <a:ext cx="5256349" cy="32717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b="1" i="0" u="none" strike="noStrike" dirty="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▍ </a:t>
            </a:r>
            <a:r>
              <a:rPr lang="zh-CN" altLang="en-US" b="1" dirty="0" smtClean="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探索性研究</a:t>
            </a:r>
            <a:r>
              <a:rPr lang="en-US" b="1" i="0" u="none" strike="noStrike" dirty="0" smtClean="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：    </a:t>
            </a:r>
            <a:r>
              <a:rPr lang="zh-CN" altLang="en-US" sz="12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可</a:t>
            </a:r>
            <a:r>
              <a:rPr lang="zh-CN" altLang="en-US" sz="12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追问的假设：若判断的依据不是模型内部的知识压缩，而是外部可验证的私域事实，决策主体的形成机制</a:t>
            </a:r>
            <a:r>
              <a:rPr lang="zh-CN" altLang="en-US" sz="12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是否需要重构</a:t>
            </a:r>
            <a:r>
              <a:rPr lang="zh-CN" altLang="en-US" sz="12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？</a:t>
            </a:r>
            <a:endParaRPr lang="en-US" altLang="zh-CN" sz="1200" i="1" dirty="0" smtClean="0">
              <a:solidFill>
                <a:schemeClr val="accent2">
                  <a:lumMod val="60000"/>
                  <a:lumOff val="40000"/>
                </a:schemeClr>
              </a:solidFill>
              <a:latin typeface="+mn-lt"/>
            </a:endParaRPr>
          </a:p>
          <a:p>
            <a:pPr>
              <a:lnSpc>
                <a:spcPct val="116666"/>
              </a:lnSpc>
              <a:defRPr/>
            </a:pPr>
            <a:endParaRPr lang="en-US" sz="1050" dirty="0">
              <a:solidFill>
                <a:schemeClr val="accent2">
                  <a:lumMod val="60000"/>
                  <a:lumOff val="40000"/>
                </a:schemeClr>
              </a:solidFill>
              <a:latin typeface="-apple-system"/>
            </a:endParaRPr>
          </a:p>
          <a:p>
            <a:pPr>
              <a:lnSpc>
                <a:spcPct val="116666"/>
              </a:lnSpc>
              <a:defRPr/>
            </a:pPr>
            <a:endParaRPr lang="en-US" sz="1100" dirty="0">
              <a:solidFill>
                <a:schemeClr val="accent3">
                  <a:lumMod val="60000"/>
                  <a:lumOff val="40000"/>
                </a:schemeClr>
              </a:solidFill>
              <a:latin typeface="-apple-system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186304" y="2917356"/>
            <a:ext cx="20569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>
                <a:solidFill>
                  <a:schemeClr val="accent3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·</a:t>
            </a:r>
            <a:r>
              <a:rPr lang="zh-CN" altLang="en-US" sz="1200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-apple-system"/>
              </a:rPr>
              <a:t>若</a:t>
            </a:r>
            <a:r>
              <a:rPr lang="zh-CN" altLang="en-US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-apple-system"/>
              </a:rPr>
              <a:t>该问题持续被</a:t>
            </a:r>
            <a:r>
              <a:rPr lang="zh-CN" altLang="en-US" sz="1200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-apple-system"/>
              </a:rPr>
              <a:t>回避：</a:t>
            </a:r>
            <a:r>
              <a:rPr lang="zh-CN" altLang="en-US" dirty="0" smtClean="0">
                <a:latin typeface="-apple-system"/>
              </a:rPr>
              <a:t>：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6965613" y="5370659"/>
            <a:ext cx="217592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100" i="1" dirty="0">
                <a:solidFill>
                  <a:srgbClr val="A5A5A5">
                    <a:lumMod val="60000"/>
                    <a:lumOff val="4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· </a:t>
            </a:r>
            <a:r>
              <a:rPr lang="en-US" altLang="zh-CN" sz="1100" i="1" dirty="0" smtClean="0">
                <a:solidFill>
                  <a:srgbClr val="A5A5A5">
                    <a:lumMod val="60000"/>
                    <a:lumOff val="4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 </a:t>
            </a:r>
            <a:r>
              <a:rPr lang="zh-CN" altLang="en-US" sz="1100" i="1" dirty="0" smtClean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不是</a:t>
            </a:r>
            <a:r>
              <a:rPr lang="zh-CN" altLang="en-US" sz="1100" i="1" dirty="0" smtClean="0">
                <a:solidFill>
                  <a:srgbClr val="ED7D31"/>
                </a:solidFill>
              </a:rPr>
              <a:t>“</a:t>
            </a:r>
            <a:r>
              <a:rPr lang="en-US" altLang="zh-CN" sz="1100" i="1" dirty="0" smtClean="0">
                <a:solidFill>
                  <a:schemeClr val="accent2"/>
                </a:solidFill>
              </a:rPr>
              <a:t>AI</a:t>
            </a:r>
            <a:r>
              <a:rPr lang="zh-CN" altLang="en-US" sz="1100" i="1" dirty="0">
                <a:solidFill>
                  <a:schemeClr val="accent2"/>
                </a:solidFill>
              </a:rPr>
              <a:t>有无</a:t>
            </a:r>
            <a:r>
              <a:rPr lang="zh-CN" altLang="en-US" sz="1100" i="1" dirty="0" smtClean="0">
                <a:solidFill>
                  <a:schemeClr val="accent2"/>
                </a:solidFill>
              </a:rPr>
              <a:t>资格”</a:t>
            </a:r>
            <a:endParaRPr lang="en-US" altLang="zh-CN" sz="1100" i="1" dirty="0" smtClean="0">
              <a:solidFill>
                <a:schemeClr val="accent2"/>
              </a:solidFill>
            </a:endParaRPr>
          </a:p>
          <a:p>
            <a:endParaRPr lang="en-US" altLang="zh-CN" sz="800" i="1" dirty="0" smtClean="0">
              <a:solidFill>
                <a:schemeClr val="accent2"/>
              </a:solidFill>
            </a:endParaRPr>
          </a:p>
          <a:p>
            <a:r>
              <a:rPr lang="en-US" altLang="zh-CN" sz="1100" i="1" dirty="0" smtClean="0">
                <a:solidFill>
                  <a:srgbClr val="A5A5A5">
                    <a:lumMod val="60000"/>
                    <a:lumOff val="4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·  </a:t>
            </a:r>
            <a:r>
              <a:rPr lang="zh-CN" altLang="en-US" sz="1100" i="1" dirty="0" smtClean="0">
                <a:solidFill>
                  <a:schemeClr val="accent2"/>
                </a:solidFill>
              </a:rPr>
              <a:t>而是“主体</a:t>
            </a:r>
            <a:r>
              <a:rPr lang="zh-CN" altLang="en-US" sz="1100" i="1" dirty="0">
                <a:solidFill>
                  <a:schemeClr val="accent2"/>
                </a:solidFill>
              </a:rPr>
              <a:t>空缺如何</a:t>
            </a:r>
            <a:r>
              <a:rPr lang="zh-CN" altLang="en-US" sz="1100" i="1" dirty="0" smtClean="0">
                <a:solidFill>
                  <a:schemeClr val="accent2"/>
                </a:solidFill>
              </a:rPr>
              <a:t>填补”</a:t>
            </a:r>
            <a:endParaRPr lang="zh-CN" altLang="en-US" sz="1100" i="1" dirty="0">
              <a:solidFill>
                <a:schemeClr val="accent2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256052" y="5922694"/>
            <a:ext cx="42214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zh-CN" altLang="en-US" sz="800" i="1" u="sng" dirty="0">
              <a:solidFill>
                <a:schemeClr val="accent2">
                  <a:lumMod val="40000"/>
                  <a:lumOff val="60000"/>
                </a:schemeClr>
              </a:solidFill>
              <a:latin typeface="-apple-system"/>
            </a:endParaRPr>
          </a:p>
          <a:p>
            <a:pPr fontAlgn="base"/>
            <a:r>
              <a:rPr lang="en-US" altLang="zh-CN" sz="1200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▌</a:t>
            </a:r>
            <a:r>
              <a:rPr lang="en-US" altLang="zh-CN" sz="1200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zh-CN" altLang="en-US" sz="1200" b="1" i="1" u="sng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inherit"/>
              </a:rPr>
              <a:t>判断</a:t>
            </a:r>
            <a:r>
              <a:rPr lang="zh-CN" altLang="en-US" sz="1200" b="1" i="1" u="sng" dirty="0">
                <a:solidFill>
                  <a:schemeClr val="accent2">
                    <a:lumMod val="40000"/>
                    <a:lumOff val="60000"/>
                  </a:schemeClr>
                </a:solidFill>
                <a:latin typeface="inherit"/>
              </a:rPr>
              <a:t>归</a:t>
            </a:r>
            <a:r>
              <a:rPr lang="zh-CN" altLang="en-US" sz="1200" b="1" i="1" u="sng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inherit"/>
              </a:rPr>
              <a:t>机、目的</a:t>
            </a:r>
            <a:r>
              <a:rPr lang="zh-CN" altLang="en-US" sz="1200" b="1" i="1" u="sng" dirty="0">
                <a:solidFill>
                  <a:schemeClr val="accent2">
                    <a:lumMod val="40000"/>
                    <a:lumOff val="60000"/>
                  </a:schemeClr>
                </a:solidFill>
                <a:latin typeface="inherit"/>
              </a:rPr>
              <a:t>归</a:t>
            </a:r>
            <a:r>
              <a:rPr lang="zh-CN" altLang="en-US" sz="1200" b="1" i="1" u="sng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inherit"/>
              </a:rPr>
              <a:t>人 </a:t>
            </a:r>
            <a:r>
              <a:rPr lang="en-US" altLang="zh-CN" sz="1200" i="1" u="sng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inherit"/>
              </a:rPr>
              <a:t>= </a:t>
            </a:r>
            <a:r>
              <a:rPr lang="zh-CN" altLang="en-US" sz="1200" i="1" u="sng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inherit"/>
              </a:rPr>
              <a:t>主体</a:t>
            </a:r>
            <a:r>
              <a:rPr lang="zh-CN" altLang="en-US" sz="1200" i="1" u="sng" dirty="0">
                <a:solidFill>
                  <a:schemeClr val="accent2">
                    <a:lumMod val="40000"/>
                    <a:lumOff val="60000"/>
                  </a:schemeClr>
                </a:solidFill>
                <a:latin typeface="inherit"/>
              </a:rPr>
              <a:t>边界清晰，可审计，可追溯</a:t>
            </a:r>
            <a:endParaRPr lang="zh-CN" altLang="en-US" sz="1200" i="1" u="sng" dirty="0">
              <a:solidFill>
                <a:schemeClr val="accent2">
                  <a:lumMod val="40000"/>
                  <a:lumOff val="60000"/>
                </a:schemeClr>
              </a:solidFill>
              <a:latin typeface="-apple-system"/>
            </a:endParaRPr>
          </a:p>
        </p:txBody>
      </p:sp>
      <p:sp>
        <p:nvSpPr>
          <p:cNvPr id="34" name="AutoShape 4"/>
          <p:cNvSpPr/>
          <p:nvPr/>
        </p:nvSpPr>
        <p:spPr>
          <a:xfrm>
            <a:off x="2558454" y="1267596"/>
            <a:ext cx="3989431" cy="39175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b="0" i="1" u="none" strike="noStrike" dirty="0" err="1">
                <a:solidFill>
                  <a:srgbClr val="C198E0"/>
                </a:solidFill>
                <a:latin typeface="Noto Sans SC"/>
                <a:ea typeface="Noto Sans SC"/>
                <a:cs typeface="Noto Sans SC"/>
                <a:sym typeface="Noto Sans SC"/>
              </a:rPr>
              <a:t>一个面向可信人工智能决策体系的基础科学问题</a:t>
            </a:r>
            <a:endParaRPr lang="en-US" i="1" dirty="0">
              <a:solidFill>
                <a:srgbClr val="C198E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400</Words>
  <Application>Microsoft Office PowerPoint</Application>
  <PresentationFormat>宽屏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-apple-system</vt:lpstr>
      <vt:lpstr>inherit</vt:lpstr>
      <vt:lpstr>Noto Sans SC</vt:lpstr>
      <vt:lpstr>汉仪中黑 197</vt:lpstr>
      <vt:lpstr>黑体</vt:lpstr>
      <vt:lpstr>宋体</vt:lpstr>
      <vt:lpstr>幼圆</vt:lpstr>
      <vt:lpstr>Arial</vt:lpstr>
      <vt:lpstr>Bell MT</vt:lpstr>
      <vt:lpstr>Office 主题​​</vt:lpstr>
      <vt:lpstr>默认主题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admin</cp:lastModifiedBy>
  <cp:revision>43</cp:revision>
  <dcterms:modified xsi:type="dcterms:W3CDTF">2026-07-31T05:26:11Z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{"Label":"1","ContentProducer":"001191110102MACQD9K64010000","ProduceID":"7662389968174992595","ReservedCode1":"","ContentPropagator":"","PropagateID":"","ReservedCode2":""}</vt:lpwstr>
  </property>
</Properties>
</file>